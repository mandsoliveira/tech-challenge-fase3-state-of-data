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 mercado brasileiro de Dados e Inteligência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8DAEA"/>
                </a:solidFill>
                <a:latin typeface="Calibri"/>
              </a:rPr>
              <a:t>Evidências de três edições da pesquisa State of Data Brasil para decisões de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C8DAEA"/>
                </a:solidFill>
                <a:latin typeface="Calibri"/>
              </a:rPr>
              <a:t>contratação, capacitação e investimento em Dados, Analytics 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EBED8"/>
                </a:solidFill>
                <a:latin typeface="Calibri"/>
              </a:rPr>
              <a:t>14.005 respondentes  ·  edições 2023-2024, 2024-2025 e 2025-2026  ·  Data Hackers e Bain &amp;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A3C4"/>
                </a:solidFill>
                <a:latin typeface="Calibri"/>
              </a:rPr>
              <a:t>Tech Challenge Fase 3  ·  POSTECH DTAT  ·  Especialista em Big Data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SUMÁRIO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Cinco conclusões que orientam a decisão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90867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472184"/>
            <a:ext cx="20908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F4E79"/>
                </a:solidFill>
                <a:latin typeface="Calibri"/>
              </a:rPr>
              <a:t>2,1%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39112"/>
            <a:ext cx="18714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C7D"/>
                </a:solidFill>
                <a:latin typeface="Calibri"/>
              </a:rPr>
              <a:t>não usam IA generativa no trabalho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C7D"/>
                </a:solidFill>
                <a:latin typeface="Calibri"/>
              </a:rPr>
              <a:t>(eram 19,7% em 2023-2024)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6667" y="1325880"/>
            <a:ext cx="2090867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776667" y="1472184"/>
            <a:ext cx="20908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F4E79"/>
                </a:solidFill>
                <a:latin typeface="Calibri"/>
              </a:rPr>
              <a:t>42,4%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6395" y="2039112"/>
            <a:ext cx="18714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C7D"/>
                </a:solidFill>
                <a:latin typeface="Calibri"/>
              </a:rPr>
              <a:t>têm a ferramenta de IA paga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C7D"/>
                </a:solidFill>
                <a:latin typeface="Calibri"/>
              </a:rPr>
              <a:t>pela empresa (eram 6,4%)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0414" y="1325880"/>
            <a:ext cx="2090867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50414" y="1472184"/>
            <a:ext cx="20908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F4E79"/>
                </a:solidFill>
                <a:latin typeface="Calibri"/>
              </a:rPr>
              <a:t>18,5%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0142" y="2039112"/>
            <a:ext cx="18714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C7D"/>
                </a:solidFill>
                <a:latin typeface="Calibri"/>
              </a:rPr>
              <a:t>atuam em Finanças ou Bancos: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C7D"/>
                </a:solidFill>
                <a:latin typeface="Calibri"/>
              </a:rPr>
              <a:t>o maior setor empregador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24161" y="1325880"/>
            <a:ext cx="2090867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24161" y="1472184"/>
            <a:ext cx="20908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F4E79"/>
                </a:solidFill>
                <a:latin typeface="Calibri"/>
              </a:rPr>
              <a:t>22,0%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3889" y="2039112"/>
            <a:ext cx="18714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C7D"/>
                </a:solidFill>
                <a:latin typeface="Calibri"/>
              </a:rPr>
              <a:t>de mulheres na área,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C7D"/>
                </a:solidFill>
                <a:latin typeface="Calibri"/>
              </a:rPr>
              <a:t>em queda há três edições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97908" y="1325880"/>
            <a:ext cx="2090867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6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97908" y="1472184"/>
            <a:ext cx="20908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F4E79"/>
                </a:solidFill>
                <a:latin typeface="Calibri"/>
              </a:rPr>
              <a:t>18,9 p.p.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07636" y="2039112"/>
            <a:ext cx="18714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C7D"/>
                </a:solidFill>
                <a:latin typeface="Calibri"/>
              </a:rPr>
              <a:t>de distância entre trabalho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5A6C7D"/>
                </a:solidFill>
                <a:latin typeface="Calibri"/>
              </a:rPr>
              <a:t>presencial imposto e desejado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8036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191F"/>
                </a:solidFill>
                <a:latin typeface="Calibri"/>
              </a:rPr>
              <a:t>1.  A adoção de IA deixou de ser individual e passou a ser corporativa.  Em três edições, quem tem a ferramenta paga pela empresa saltou de 6,4% para 42,4%, enquanto o uso de versões gratuitas caiu de 63,7% para 30,5%. A ferramenta chegou ao orçamento.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191F"/>
                </a:solidFill>
                <a:latin typeface="Calibri"/>
              </a:rPr>
              <a:t>2.  A adoção individual corre à frente da estratégia corporativa.  Entre gestores, metade relata colaboradores usando IA de forma descentralizada, mas apenas 23,8% dizem que IA é a principal prioridade da empresa. O risco não é falta de uso, é uso sem governança.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191F"/>
                </a:solidFill>
                <a:latin typeface="Calibri"/>
              </a:rPr>
              <a:t>3.  O mercado é caro na senioridade e barato na base.  A remuneração média sai de R$ 4.153 no Júnior para R$ 20.373 no Especialista. Formar internamente custa menos que disputar o topo.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191F"/>
                </a:solidFill>
                <a:latin typeface="Calibri"/>
              </a:rPr>
              <a:t>4.  A diversidade está piorando, não melhorando.  A participação feminina caiu de 24,4% para 22,0% entre as edições, e cai de novo conforme a senioridade sobe: 28,2% no Júnior contra 20,1% no topo. A diferença salarial média é de 20,2%.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191F"/>
                </a:solidFill>
                <a:latin typeface="Calibri"/>
              </a:rPr>
              <a:t>5.  O modelo de trabalho é o ponto de ruptura mais barato de resolver.  20,8% trabalham 100% presencial, mas somente 1,9% consideram esse o modelo ideal — e flexibilidade remota é o segundo critério mais citado na escolha de um emprego.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27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9BAB"/>
                </a:solidFill>
                <a:latin typeface="Calibri"/>
              </a:rPr>
              <a:t>Base: 14.005 respondentes nas três edições. Percentuais calculados sobre quem respondeu a cada pergunta, não sobre a base total.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Como os dados foram tratados, e por que isso importa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55A11"/>
                </a:solidFill>
                <a:latin typeface="Calibri"/>
              </a:rPr>
              <a:t>Base analisada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Três edições da pesquisa State of Data Brasil, realizada pela comunidade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Data Hackers em parceria com a Bain &amp; Company: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     2023-2024      5.293 respondentes      399 colunas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     2024-2025      5.217 respondentes      403 colunas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     2025-2026      3.495 respondentes      388 colunas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Total: 14.005 respostas, harmonizadas em 41 dimensões comparáveis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e 8 tabelas analíticas.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55A11"/>
                </a:solidFill>
                <a:latin typeface="Calibri"/>
              </a:rPr>
              <a:t>As três edições não são diretamente comparáveis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Os códigos das perguntas deslocam entre edições, porque perguntas foram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inseridas e removidas. O mesmo código representa perguntas diferentes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em anos diferentes: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     código 2.q       2023: houve layoff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                          2025: modelo de trabalho atual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Unir as edições por código produziria números errados sem nenhum erro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visível. Por isso a harmonização é feita por significado, dimensão por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dimensão, e verificada por um caminho de cálculo independente.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55A11"/>
                </a:solidFill>
                <a:latin typeface="Calibri"/>
              </a:rPr>
              <a:t>Três ressalvas que atravessam toda a leitura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0916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6191F"/>
                </a:solidFill>
                <a:latin typeface="Calibri"/>
              </a:rPr>
              <a:t>Denominador variável.  O questionário é condicional. A seção de gestão, por exemplo, é respondida apenas por gestores: 652 pessoas de 3.495 na última edição. Todo percentual deste material é calculado sobre quem respondeu à pergunta, e a base é declarada em cada slide.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16191F"/>
                </a:solidFill>
                <a:latin typeface="Calibri"/>
              </a:rPr>
              <a:t>Múltipla escolha.  Perguntas de tecnologia e de IA aceitam várias respostas, então a soma dos percentuais excede 100%.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16191F"/>
                </a:solidFill>
                <a:latin typeface="Calibri"/>
              </a:rPr>
              <a:t>Quebra de série na senioridade.  A edição 2025-2026 criou o nível Especialista/Staff+, que não existia antes. A queda do percentual de Sênior entre edições reflete a nova categoria, não uma mudança de mercado.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ARQUITETURA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Pipeline em AWS: da ingestão bruta ao consumo analítico</a:t>
            </a:r>
          </a:p>
        </p:txBody>
      </p:sp>
      <p:pic>
        <p:nvPicPr>
          <p:cNvPr id="5" name="Picture 4" descr="arquitetura_sod_fas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15" y="1371600"/>
            <a:ext cx="8819664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27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9BAB"/>
                </a:solidFill>
                <a:latin typeface="Calibri"/>
              </a:rPr>
              <a:t>Data Lake em três camadas no S3, transformações em PySpark via AWS Glue, catalogação no Glue Data Catalog e consulta no Athena. Todos os recursos privados, com Block Public Access e criptografia em repouso. Diagrama construído no Draw.io.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PERGUNTA 1 · ESTRUTURA DO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Três cargos concentram mais da metade do mercado</a:t>
            </a:r>
          </a:p>
        </p:txBody>
      </p:sp>
      <p:pic>
        <p:nvPicPr>
          <p:cNvPr id="5" name="Picture 4" descr="01_perfil_merc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2610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417320"/>
            <a:ext cx="4069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 que os dados mostram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Analista de Dados (23,9%), Cientista de Dados (16,9%) e Engenheiro de Dados (16,1%) somam 57,0% dos profissionais.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Finanças e Bancos é o maior setor empregador, com 18,5% — à frente de Tecnologia (17,4%).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Leitura para a decisão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Uma instituição financeira disputa talento no setor que já emprega mais gente em dados no país. A concorrência não vem só das big techs: vem dos pares diretos, que oferecem o mesmo tipo de problema e de remuneração.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A implicação é que diferenciação por salário tem teto baixo. Os fatores de atração que restam são modelo de trabalho, plano de carreira e a qualidade técnica dos problemas oferecidos.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27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9BAB"/>
                </a:solidFill>
                <a:latin typeface="Calibri"/>
              </a:rPr>
              <a:t>Base: 2.501 respondentes que informaram cargo atual na edição 2025-2026 (71,6% do total). Percentual de setor calculado sobre 3.228 respondentes.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PERGUNTA 2 · PERFIS VALORIZADOS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A remuneração média multiplica por 4.9 entre a base e o topo</a:t>
            </a:r>
          </a:p>
        </p:txBody>
      </p:sp>
      <p:pic>
        <p:nvPicPr>
          <p:cNvPr id="5" name="Picture 4" descr="02_remuneracao_senio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7796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417320"/>
            <a:ext cx="4069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 que os dados mostram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Júnior R$ 4.153  ·  Pleno R$ 8.314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Sênior R$ 14.622  ·  Especialista R$ 20.373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Do Júnior ao Especialista, a remuneração média multiplica por 4.9.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Por cargo, o topo é de Engenheiro de ML (R$ 19.600) e Engenheiro de Dados (R$ 14.505).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Leitura para a decisão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Contratar sênior pronto custa cerca de três vezes e meia o custo de um júnior, num mercado onde 25,3% dos profissionais já estão procurando recolocação — ou seja, a oferta existe, mas é disputada e precificada.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A alavanca de custo está em formar Pleno a partir de Júnior internamente. É a transição com maior salto relativo de valor e a que menos depende do mercado externo.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27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9BAB"/>
                </a:solidFill>
                <a:latin typeface="Calibri"/>
              </a:rPr>
              <a:t>Salário estimado pelo ponto médio das faixas declaradas; a faixa superior é aberta, então os valores servem para comparar recortes, não como remuneração absoluta. Recortes com menos de 30 respondentes foram omitidos. Especialista/Staff+ existe apenas na edição 2025-2026.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PERGUNTA 3 · DIVERSIDADE DE GÊNERO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O afunilamento é estrutural, e a série está piorando</a:t>
            </a:r>
          </a:p>
        </p:txBody>
      </p:sp>
      <p:pic>
        <p:nvPicPr>
          <p:cNvPr id="5" name="Picture 4" descr="03_diversidade_senio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8723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417320"/>
            <a:ext cx="4069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 que os dados mostram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Participação feminina no total: 24,4% em 2023-2024, 23,5% em 2024-2025 e 22,0% em 2025-2026. Três edições em queda.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Por senioridade, cai de 28,2% no Júnior para 20,8% no Sênior e 20,1% no Especialista.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A remuneração média feminina é 20,2% inferior à masculina (R$ 11.198 contra R$ 14.036).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Leitura para a decisão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A entrada não é o gargalo: mulheres são quase 3 em cada 10 na base. O problema está na progressão — a proporção cai a cada nível acima.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Programas focados só em atração não corrigem isso. O que a evidência aponta é retenção e promoção nos níveis Pleno e Sênior, onde a perda acontece.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27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9BAB"/>
                </a:solidFill>
                <a:latin typeface="Calibri"/>
              </a:rPr>
              <a:t>Base: quem informou gênero e senioridade. Diferença salarial calculada sobre o ponto médio das faixas, sem controle por cargo, senioridade ou tempo de experiência — portanto descreve a diferença observada no mercado, não discriminação salarial em posição equivalente.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PERGUNTA 4 · ADOÇÃO DE 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A liderança em cloud mudou de mão no período analisado</a:t>
            </a:r>
          </a:p>
        </p:txBody>
      </p:sp>
      <p:pic>
        <p:nvPicPr>
          <p:cNvPr id="5" name="Picture 4" descr="04_tecnologias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392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417320"/>
            <a:ext cx="4069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 que os dados mostram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AWS passou de 30,6% para 48,3% de adoção no dia a dia. Azure fez o caminho inverso: de 42,3% para 34,8%. GCP ficou estável em torno de 30,9%.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Em bancos de dados, PostgreSQL lidera (36,8%), seguido de SQL Server (33,5%) e Databricks (32,9%).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Leitura para a decisão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A disponibilidade de mão de obra com experiência em AWS cresceu 17,7 pontos em três edições. Para uma instituição que está definindo sua plataforma agora, isso reduz o custo de contratação e o tempo de rampa.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A presença de Databricks em 32,9% indica que arquitetura de lakehouse já é competência de mercado, não diferencial escasso.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27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9BAB"/>
                </a:solidFill>
                <a:latin typeface="Calibri"/>
              </a:rPr>
              <a:t>Perguntas de múltipla escolha: a soma dos percentuais excede 100% porque um respondente pode marcar várias tecnologias. Base 2025-2026: 2.096 respondentes que responderam à pergunta.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PERGUNTA 5 · ADOÇÃO DE INTELIGÊNCIA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A IA saiu do bolso do profissional e entrou no orçamento da empresa</a:t>
            </a:r>
          </a:p>
        </p:txBody>
      </p:sp>
      <p:pic>
        <p:nvPicPr>
          <p:cNvPr id="5" name="Picture 4" descr="05_adocao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27768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417320"/>
            <a:ext cx="4069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 que os dados mostram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Quem não usa IA generativa no trabalho caiu de 19,7% para 2,1% em três edições.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Quem tem a ferramenta paga pela empresa saltou de 6,4% para 42,4%. Uso de versões gratuitas caiu de 63,6% para 30,5%.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Entre gestores, porém, apenas 23,8% dizem que IA é a principal prioridade da empresa.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Leitura para a decisão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A adoção individual está praticamente universalizada, e a empresa já paga a conta em 4 de cada 10 casos. O que não acompanhou foi a estratégia: metade dos gestores descreve uso descentralizado, sem direcionamento central.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 risco a endereçar não é adoção, é governança — dados sensíveis em ferramentas não homologadas, sem política de uso.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27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9BAB"/>
                </a:solidFill>
                <a:latin typeface="Calibri"/>
              </a:rPr>
              <a:t>Uso de IA: base de 2.106 respondentes (60,3% do total), múltipla escolha. Prioridade declarada: base de 652 gestores (18,7% do total) — descreve empresas com gestor respondente, não o mercado inteiro.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PERGUNTA 6 · REGIÃO E MODELO DE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Duas assimetrias exploráveis: geografia e presencialidade</a:t>
            </a:r>
          </a:p>
        </p:txBody>
      </p:sp>
      <p:pic>
        <p:nvPicPr>
          <p:cNvPr id="5" name="Picture 4" descr="06_recortes_region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5760720" cy="2717759"/>
          </a:xfrm>
          <a:prstGeom prst="rect">
            <a:avLst/>
          </a:prstGeom>
        </p:spPr>
      </p:pic>
      <p:pic>
        <p:nvPicPr>
          <p:cNvPr id="6" name="Picture 5" descr="07_modelo_trabal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86200"/>
            <a:ext cx="5760720" cy="2525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17320"/>
            <a:ext cx="5257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 que os dados mostram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 Sudeste concentra 64,4% dos profissionais. O Nordeste tem 11,3%, com remuneração média 23,8% inferior à do Sudeste (R$ 10.437 contra R$ 13.696).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No modelo de trabalho, 20,8% estão 100% presenciais, mas apenas 1,9% consideram esse o modelo ideal. O híbrido flexível é o preferido, com 43,0%.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Leitura para a decisão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Contratação distribuída fora do Sudeste acessa talento a custo menor, com a ressalva de que a base amostral do Norte é pequena e não sustenta conclusão regional fina.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 desalinhamento de presencialidade é a maior distância medida neste estudo: 18,9 pontos entre o que se impõe e o que se deseja. Corrigi-lo não tem custo de folha, e flexibilidade remota é o segundo critério mais citado na escolha de um emprego.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9BAB"/>
                </a:solidFill>
                <a:latin typeface="Calibri"/>
              </a:rPr>
              <a:t>Base: edição 2025-2026. Regiões com menos de 30 respondentes foram omitidas do comparativo salarial. A amostra do Norte é pequena e seu salário médio deve ser lido com reserva.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PERGUNTA 7 · OPORTUNIDADES E DESAFIOS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O que atrai profissionais, e o que trava as empresas</a:t>
            </a:r>
          </a:p>
        </p:txBody>
      </p:sp>
      <p:pic>
        <p:nvPicPr>
          <p:cNvPr id="5" name="Picture 4" descr="08_criterios_escol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5760720" cy="2561794"/>
          </a:xfrm>
          <a:prstGeom prst="rect">
            <a:avLst/>
          </a:prstGeom>
        </p:spPr>
      </p:pic>
      <p:pic>
        <p:nvPicPr>
          <p:cNvPr id="6" name="Picture 5" descr="09_barreiras_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86200"/>
            <a:ext cx="5760720" cy="25092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1417320"/>
            <a:ext cx="5257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O que os dados mostram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Na escolha de um emprego, remuneração pesa para 83,2% e flexibilidade remota para 56,6%. Plano de carreira vem em terceiro, com 32,3%.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65,8% estão buscando recolocação ou abertos a ela.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Entre gestores, o maior desafio é dividir o tempo entre entregas técnicas e gestão (36,4%), seguido de gerenciar a expectativa das áreas de negócio (33,3%).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Leitura para a decisão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Salário é condição de entrada, não diferencial: quase todos o citam. O que separa propostas é o segundo bloco de critérios, que custa menos e é decidido por política interna, não por orçamento.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16191F"/>
                </a:solidFill>
                <a:latin typeface="Calibri"/>
              </a:rPr>
              <a:t>Do lado das empresas, os desafios declarados são de gestão e de tradução para o negócio, não de tecnologia. Investir só em ferramenta não resolve o gargalo que os próprios gestores apontam.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9BAB"/>
                </a:solidFill>
                <a:latin typeface="Calibri"/>
              </a:rPr>
              <a:t>Critérios de escolha: base de 3.228 respondentes, múltipla escolha. Desafios de gestão: base de 652 gestores (18,7% do total).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55A11"/>
                </a:solidFill>
                <a:latin typeface="Calibri"/>
              </a:rPr>
              <a:t>RECOMENDAÇÕES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4E79"/>
                </a:solidFill>
                <a:latin typeface="Calibri"/>
              </a:rPr>
              <a:t>Quatro movimentos, ordenados por relação entre impacto e custo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E79"/>
                </a:solidFill>
                <a:latin typeface="Calibri"/>
              </a:rPr>
              <a:t>1.  Publicar política de uso de IA antes de ampliar investimento em ferramenta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835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91F"/>
                </a:solidFill>
                <a:latin typeface="Calibri"/>
              </a:rPr>
              <a:t>Apenas 2,1% não usam IA generativa no trabalho, e metade dos gestores descreve uso descentralizado. A ferramenta já está dentro da empresa, com ou sem autorização. Para uma instituição financeira, o risco de dado sensível em serviço não homologado é regulatório, não apenas técnico.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91F"/>
                </a:solidFill>
                <a:latin typeface="Calibri"/>
              </a:rPr>
              <a:t>Custo baixo, urgência alta, e é pré-requisito para os demais movimentos.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E79"/>
                </a:solidFill>
                <a:latin typeface="Calibri"/>
              </a:rPr>
              <a:t>2.  Corrigir o desalinhamento de modelo de trabalho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9504"/>
            <a:ext cx="10835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91F"/>
                </a:solidFill>
                <a:latin typeface="Calibri"/>
              </a:rPr>
              <a:t>20,8% trabalham 100% presencial e apenas 1,9% desejam isso — 18,9 pontos de distância. Flexibilidade remota é o segundo critério na escolha de emprego (56,6%), e 65,8% do mercado está aberto a sair.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91F"/>
                </a:solidFill>
                <a:latin typeface="Calibri"/>
              </a:rPr>
              <a:t>É a maior alavanca de retenção sem impacto em folha de pagamento.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2219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E79"/>
                </a:solidFill>
                <a:latin typeface="Calibri"/>
              </a:rPr>
              <a:t>3.  Formar Pleno internamente em vez de disputar Sênior no mercado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10835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91F"/>
                </a:solidFill>
                <a:latin typeface="Calibri"/>
              </a:rPr>
              <a:t>A remuneração média sai de R$ 4.153 no Júnior para R$ 14.622 no Sênior. Contratar no topo custa cerca de três vezes e meia mais, num mercado disputado. Combinar formação interna com contratação distribuída fora do Sudeste, onde a média é até 23,8% menor, amplia o alcance do mesmo orçamento.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474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E79"/>
                </a:solidFill>
                <a:latin typeface="Calibri"/>
              </a:rPr>
              <a:t>4.  Atacar retenção e promoção, não apenas atração, no programa de diversidade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0096"/>
            <a:ext cx="10835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6191F"/>
                </a:solidFill>
                <a:latin typeface="Calibri"/>
              </a:rPr>
              <a:t>Mulheres são 28,2% no nível Júnior e 20,1% no topo, e a participação geral caiu em três edições consecutivas. O gargalo medido está na progressão, não na entrada. Programas de atração isolados não movem esse indicador; metas de promoção em Pleno e Sênior, sim.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276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C9BAB"/>
                </a:solidFill>
                <a:latin typeface="Calibri"/>
              </a:rPr>
              <a:t>Todos os números citados são extraídos da camada Gold do Data Lake e rastreáveis até as respostas originais da pesquisa.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A solução construída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Pipeline completo em AWS, executado e validado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     Ingestão   três edições brutas no S3, camada Bronze particionada, cópia fiel da origem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     ETL          dois Glue Jobs em PySpark, Glue 5.0 com Spark 3.5.4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     Camadas   Bronze, Silver e Gold em Parquet, 11 tabelas catalogadas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     Catálogo   Glue Crawler e Glue Data Catalog, partições registradas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     Consulta   16 consultas SQL versionadas no Athena, uma por pergunta de negócio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     Análise     9 gráficos gerados a partir da camada Gold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Qualidade e governança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     Harmonização semântica curada, com verificação por caminho de cálculo independente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     Denominador válido e taxa de resposta em toda métrica agregada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     Nenhum recurso exposto publicamente; criptografia em repouso e IAM de menor privilégio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D8E6F2"/>
                </a:solidFill>
                <a:latin typeface="Calibri"/>
              </a:rPr>
              <a:t>     Custo total de processamento e consulta abaixo de um dólar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A3C4"/>
                </a:solidFill>
                <a:latin typeface="Calibri"/>
              </a:rPr>
              <a:t>Tech Challenge Fase 3  ·  POSTECH DTAT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